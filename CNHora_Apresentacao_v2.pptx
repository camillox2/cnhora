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91D4A"/>
          </a:solidFill>
          <a:ln w="12700">
            <a:solidFill>
              <a:srgbClr val="091D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457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640080"/>
            <a:ext cx="1737360" cy="1737360"/>
          </a:xfrm>
          <a:prstGeom prst="ellipse">
            <a:avLst/>
          </a:prstGeom>
          <a:solidFill>
            <a:srgbClr val="1A3A80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0" y="9144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12280" y="1417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30449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0" y="32735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10+12k*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575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potencial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0" y="38039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41056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no piloto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263640" y="48920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*alunos potenciais Curitiba/PR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1480" y="10058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</a:t>
            </a:r>
            <a:endParaRPr lang="en-US" sz="5800" dirty="0"/>
          </a:p>
        </p:txBody>
      </p:sp>
      <p:sp>
        <p:nvSpPr>
          <p:cNvPr id="16" name="Shape 14"/>
          <p:cNvSpPr/>
          <p:nvPr/>
        </p:nvSpPr>
        <p:spPr>
          <a:xfrm>
            <a:off x="411480" y="1938528"/>
            <a:ext cx="320040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299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confiança para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23408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prática da CNH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" y="281635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candidatos à CNH com instrutores autônomos verificados.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digital · Pagamento seguro · Reputação real.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65760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Wolff · Wellington Fonseca · Vitor Camillo · João Alvarez · Lucas Ashikaga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388620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Positivo · Curitiba/PR · Junho 2026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18288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06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CNH no Brasil é confuso, caro e informal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9164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64008" cy="96012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78992" y="1783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imprevisível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2121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candidato não sabe o total que vai gastar antes de começar o processo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78892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2880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 invisível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3218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comparar instrutores. Escolha baseada em indicação boca a boca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8620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8992" y="3977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arcaico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4315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só por WhatsApp ou telefone, sem confirmação automática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45152" y="169164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691640"/>
            <a:ext cx="64008" cy="960120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819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13248" y="17830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Autônomo sem estrutura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13248" y="21214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 depende de WhatsApp e panfletos para captar alunos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5152" y="278892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45152" y="278892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13248" y="28803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constante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13248" y="32186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informal: sem garantia de recebimento pós-aula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45152" y="3886200"/>
            <a:ext cx="38404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45152" y="388620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13248" y="3977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Cancelamentos sem aviso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13248" y="43159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proteção para nenhum dos lados quando a aula é cancelada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1691640"/>
            <a:ext cx="393192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310896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1508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45152" y="15087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MERCADO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entrevistas · Google Forms + presencial · Mai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alunos/candidatos + 5 instrutores autônomos de Curitiba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719072"/>
            <a:ext cx="1965960" cy="137160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719072"/>
            <a:ext cx="196596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24414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entrevistados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87752" y="1719072"/>
            <a:ext cx="1965960" cy="137160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87752" y="1719072"/>
            <a:ext cx="1965960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87752" y="24414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deram nota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 5 de intenção de uso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64024" y="1719072"/>
            <a:ext cx="1965960" cy="137160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64024" y="1719072"/>
            <a:ext cx="1965960" cy="5029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64024" y="24414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com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real de captação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0296" y="1719072"/>
            <a:ext cx="1965960" cy="137160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0296" y="1719072"/>
            <a:ext cx="1965960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8288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40296" y="24414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aceito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pelos instrutores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291840"/>
            <a:ext cx="8321040" cy="713232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291840"/>
            <a:ext cx="54864" cy="7132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3467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"Usaria se tivesse preço claro, avaliação do instrutor e pagamento seguro."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7124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 entrevistado · nota 5/5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4114800"/>
            <a:ext cx="8321040" cy="713232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114800"/>
            <a:ext cx="54864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6966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a plataforma traz aluno qualificado e garante recebimento, faz sentido pagar comissão."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5354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 entrevistado · aceita 10% take rate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 PESQUISA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do formulário revelaram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dores e funcionalidades desejadas pelos 10 alunos entrevistados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elevado e imprevisível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1764792"/>
            <a:ext cx="41148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764792"/>
            <a:ext cx="2880360" cy="237744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76479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clareza sobre etapas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26280" y="2386584"/>
            <a:ext cx="41148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386584"/>
            <a:ext cx="205740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38658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96265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para agendar aulas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26280" y="3008376"/>
            <a:ext cx="41148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3008376"/>
            <a:ext cx="12344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300837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5844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no processo geral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26280" y="3630168"/>
            <a:ext cx="41148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3630168"/>
            <a:ext cx="123444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63016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na escolha do instrutor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4251960"/>
            <a:ext cx="411480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251960"/>
            <a:ext cx="82296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425196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0965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funcionalidades desejadas pelos alunos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407408"/>
            <a:ext cx="265176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" y="445312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05840" y="44531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final claro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pagamento seguro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0" y="4407408"/>
            <a:ext cx="2651760" cy="62179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310128" y="445312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840480" y="44531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 verificado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avaliações reais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4407408"/>
            <a:ext cx="2651760" cy="621792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44768" y="4453128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675120" y="44531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disponível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precisar ligar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 — marketplace bilateral para CNH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só agendamento. É infraestrutura de confiança para a jornada prática.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91640"/>
            <a:ext cx="8321040" cy="548640"/>
          </a:xfrm>
          <a:prstGeom prst="rect">
            <a:avLst/>
          </a:prstGeom>
          <a:solidFill>
            <a:srgbClr val="1A3A8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6479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encontra instrutor verificado · agenda com 1 clique · paga com segurança · avalia depois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395728"/>
            <a:ext cx="2606040" cy="248716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395728"/>
            <a:ext cx="260604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96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verificado do instrutor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definido por aula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de alunos reais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395728"/>
            <a:ext cx="2606040" cy="248716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395728"/>
            <a:ext cx="260604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496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4612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3832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em tempo real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8404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telefonar ou esperar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297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automática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395728"/>
            <a:ext cx="2606040" cy="248716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395728"/>
            <a:ext cx="2606040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2496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80760" y="2971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3832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retido pós-aula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8404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para as 2 partes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297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reputação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mercado fragmentado, sem solução digital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Curitiba como prova de conceito regional para escalar no Brasil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19072"/>
            <a:ext cx="199339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719072"/>
            <a:ext cx="1993392" cy="50292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2880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" y="23957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Metro CWB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23744" y="1719072"/>
            <a:ext cx="199339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23744" y="1719072"/>
            <a:ext cx="199339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82880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23744" y="23957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autônomos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Paraná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0016" y="1719072"/>
            <a:ext cx="199339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719072"/>
            <a:ext cx="1993392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82880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23957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aula prática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76288" y="1719072"/>
            <a:ext cx="199339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76288" y="1719072"/>
            <a:ext cx="1993392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82880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76288" y="23957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segmento (BR)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" y="32004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Segmentos-Alvo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" y="3529584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36118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7200" y="40233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18–28 anos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31596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CNH, perfil digital, priorizam praticidade e segurança. Dispostos a pagar por um processo mais confiável.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0" y="3529584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6118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310128" y="40233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autônomos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10128" y="431596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informal via WhatsApp e indicações. Precisam de leads qualificados e pagamento garantido.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53328" y="3529584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53328" y="36118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63056" y="40233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futura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63056" y="4315968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 · C · D · E · Renovação de CNH · Londrina · Maringá · Escala nacional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 Bilateral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simultânea das dores de alunos e instrutores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91640"/>
            <a:ext cx="162763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91640"/>
            <a:ext cx="1627632" cy="50292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7556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01752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verificados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" y="2606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 de pagamento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752" y="303580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mapa/GPS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1752" y="34655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Positivo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84248" y="1691640"/>
            <a:ext cx="162763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84248" y="1691640"/>
            <a:ext cx="162763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17556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57400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 manutenção app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57400" y="2606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instrutores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57400" y="303580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Mediação pagamentos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57400" y="34655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 marketing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39896" y="1691640"/>
            <a:ext cx="1627632" cy="224028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9896" y="1691640"/>
            <a:ext cx="1627632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3048" y="17556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13048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 verificado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13048" y="2606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claro por aula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13048" y="303580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digital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13048" y="34655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seguro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95544" y="1691640"/>
            <a:ext cx="162763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95544" y="1691640"/>
            <a:ext cx="162763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17556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Relacio-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namento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68696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guiado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68696" y="2606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de aula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68696" y="303580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mútuas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68696" y="34655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WhatsApp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51192" y="1691640"/>
            <a:ext cx="1627632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51192" y="1691640"/>
            <a:ext cx="1627632" cy="50292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24344" y="175564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24344" y="217627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18–28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24344" y="260604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CNH cat B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24344" y="303580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Instrutores autôn.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24344" y="34655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Brasil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4041648"/>
            <a:ext cx="4206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28600" y="4041648"/>
            <a:ext cx="4206240" cy="50292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410565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" y="4389120"/>
            <a:ext cx="3986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Dev/hospedagem/APIs · Marketing de aquisição (alunos e instrutores) · Suporte, compliance e LGPD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4041648"/>
            <a:ext cx="4206240" cy="96012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4041648"/>
            <a:ext cx="4206240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8888" y="4105656"/>
            <a:ext cx="3986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18888" y="4389120"/>
            <a:ext cx="3986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8–15% por aula concluída · Plano Premium instrutor — R$79/mês · Taxa de conveniência + Verificação plus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· MVP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React Native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validado em código · 11 telas · dados em cache · pronto para instalar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70432"/>
            <a:ext cx="2148840" cy="3749040"/>
          </a:xfrm>
          <a:prstGeom prst="rect">
            <a:avLst/>
          </a:prstGeom>
          <a:solidFill>
            <a:srgbClr val="0D2260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536192"/>
            <a:ext cx="1892808" cy="2971800"/>
          </a:xfrm>
          <a:prstGeom prst="rect">
            <a:avLst/>
          </a:prstGeom>
          <a:solidFill>
            <a:srgbClr val="091D4A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1536192"/>
            <a:ext cx="1892808" cy="438912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00200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084832"/>
            <a:ext cx="1709928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084832"/>
            <a:ext cx="146304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0428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86%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6928" y="2542032"/>
            <a:ext cx="1709928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542032"/>
            <a:ext cx="868680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61488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12h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66928" y="3182112"/>
            <a:ext cx="1709928" cy="256032"/>
          </a:xfrm>
          <a:prstGeom prst="rect">
            <a:avLst/>
          </a:prstGeom>
          <a:solidFill>
            <a:srgbClr val="1A3A80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2278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H. · ★4.9 · R$120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66928" y="3493008"/>
            <a:ext cx="1709928" cy="256032"/>
          </a:xfrm>
          <a:prstGeom prst="rect">
            <a:avLst/>
          </a:prstGeom>
          <a:solidFill>
            <a:srgbClr val="1A3A8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35387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Renata A. · ★4.8 · R$100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75488" y="4279392"/>
            <a:ext cx="1892808" cy="292608"/>
          </a:xfrm>
          <a:prstGeom prst="rect">
            <a:avLst/>
          </a:prstGeom>
          <a:solidFill>
            <a:srgbClr val="0A1A40"/>
          </a:solidFill>
          <a:ln w="12700">
            <a:solidFill>
              <a:srgbClr val="0A1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0682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" y="430682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97864" y="430682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45336" y="430682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92808" y="430682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97480" y="118872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07208" y="1280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91840" y="1261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Dashboard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15544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CNH, próxima aula, ações rápidas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52160" y="118872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61888" y="1280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46520" y="12618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Instrutor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15544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bairro, categoria e preço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697480" y="214884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807208" y="2240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291840" y="2221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Instrutor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25146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Bio, avaliações e disponibilidade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52160" y="214884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961888" y="2240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446520" y="2221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Aula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25146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+ horários em tempo real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697480" y="310896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807208" y="32004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291840" y="3182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Simulados CTB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91840" y="34747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questões com explicações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52160" y="310896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961888" y="32004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46520" y="31821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 Progresso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46520" y="34747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da jornada + estatísticas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697480" y="406908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807208" y="4160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291840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 Aulas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291840" y="44348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 filtros de status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52160" y="4069080"/>
            <a:ext cx="2926080" cy="84124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961888" y="4160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446520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46520" y="44348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· sem backend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hiperlocal em 4 fases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primeiro (instrutores) → demanda (alunos) com qualidade garantida desde o dia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19072"/>
            <a:ext cx="199339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719072"/>
            <a:ext cx="1993392" cy="50292"/>
          </a:xfrm>
          <a:prstGeom prst="rect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828800"/>
            <a:ext cx="749808" cy="749808"/>
          </a:xfrm>
          <a:prstGeom prst="ellipse">
            <a:avLst/>
          </a:prstGeom>
          <a:solidFill>
            <a:srgbClr val="0F2B6B"/>
          </a:solidFill>
          <a:ln w="12700">
            <a:solidFill>
              <a:srgbClr val="0F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883664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" y="26700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Pré-lançamento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035808"/>
            <a:ext cx="137160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035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Concluído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cnhora.com.br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espera ativa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3525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definida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23744" y="1719072"/>
            <a:ext cx="199339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23744" y="1719072"/>
            <a:ext cx="199339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45536" y="1828800"/>
            <a:ext cx="749808" cy="7498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1883664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615184" y="26700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Curitiba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3035808"/>
            <a:ext cx="1371600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035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33472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instrutores verificados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33472" y="38770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alunos beta — Água Verde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33472" y="43525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agendamento e NPS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719072"/>
            <a:ext cx="199339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016" y="1719072"/>
            <a:ext cx="1993392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21808" y="1828800"/>
            <a:ext cx="749808" cy="7498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21808" y="1883664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91456" y="26700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Local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10912" y="3035808"/>
            <a:ext cx="1371600" cy="22860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035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Ago–Out/2026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9744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TikTok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9744" y="38770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campus UP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9744" y="43525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indicação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76288" y="1719072"/>
            <a:ext cx="199339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76288" y="1719072"/>
            <a:ext cx="1993392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1828800"/>
            <a:ext cx="749808" cy="7498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1883664"/>
            <a:ext cx="74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67728" y="2670048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Paraná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87184" y="3035808"/>
            <a:ext cx="1371600" cy="2286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3035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Q1/2027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86016" y="34015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Londrina, Maringá, PG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86016" y="38770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A + renovação CNH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86016" y="43525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expansão nacional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7472" y="4864608"/>
            <a:ext cx="85039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dois lados: resolver oferta (instrutores) antes de escalar demanda (alunos) — qualidade desde o dia 1.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+ serviços premium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cresce proporcionalmente ao volume de aulas agendadas na plataforma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19072"/>
            <a:ext cx="3931920" cy="91440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19072"/>
            <a:ext cx="6400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17922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por Aula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2084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8–15%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23774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fonte · incide sobre aula concluída na plataforma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3931920" cy="91440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98064"/>
            <a:ext cx="64008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0779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15568" y="2871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Premium Instrutor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1638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R$79/mês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15568" y="34564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no ranking de busca + ferramentas de gestão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3931920" cy="91440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77056"/>
            <a:ext cx="64008" cy="9144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867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15568" y="3950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Plus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" y="42428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R$29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115568" y="453542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verificação de antecedentes e documentos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16276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 Estimadas (cenário conservador — pós-validação do piloto)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1920240"/>
            <a:ext cx="4251960" cy="475488"/>
          </a:xfrm>
          <a:prstGeom prst="rect">
            <a:avLst/>
          </a:prstGeom>
          <a:solidFill>
            <a:srgbClr val="0F2B6B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GMV/mês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52360" y="19751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432304"/>
            <a:ext cx="4251960" cy="47548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Jul–Set/26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24871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R$1.800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2944368"/>
            <a:ext cx="4251960" cy="47548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Out–Dez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R$72k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5236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R$7.200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0" y="3456432"/>
            <a:ext cx="4251960" cy="47548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35040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R$250k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52360" y="35112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R$25.000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3968496"/>
            <a:ext cx="4251960" cy="47548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1772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3504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R$625k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52360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R$68.750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0" y="4480560"/>
            <a:ext cx="4251960" cy="475488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4535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 2027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4535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&gt;R$1,2M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52360" y="45354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&gt;R$130k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0" y="4846320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estimativas preliminares sujeitas a revisão após piloto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 CNHora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Positivo · Curitiba/PR · Junho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719072"/>
            <a:ext cx="2651760" cy="17830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61872" y="1828800"/>
            <a:ext cx="777240" cy="77724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18836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👑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Wolff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2980944"/>
            <a:ext cx="192024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809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&amp; Pesquisa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" y="3209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do projeto, pesquisa de mercado e validação com instrutores autônomos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0" y="1719072"/>
            <a:ext cx="2651760" cy="17830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828800"/>
            <a:ext cx="777240" cy="77724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8836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91840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Wellington Fonseca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2980944"/>
            <a:ext cx="192024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9809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 &amp; Canvas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91840" y="3209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Canvas, modelo de receita e análise competitiva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53328" y="1719072"/>
            <a:ext cx="2651760" cy="17830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67728" y="1828800"/>
            <a:ext cx="777240" cy="77724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1883664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44768" y="26883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 Camillo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19088" y="2980944"/>
            <a:ext cx="192024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9809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44768" y="3209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React Native/Expo, arquitetura de produto e entrega técnica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719072" y="3712464"/>
            <a:ext cx="2651760" cy="17830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33472" y="3822192"/>
            <a:ext cx="777240" cy="77724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87705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🎤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810512" y="4681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Alvarez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84832" y="4974336"/>
            <a:ext cx="192024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84832" y="4974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&amp; Pitch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10512" y="5202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validação com alunos, análise quantitativa e apresentação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0" y="3712464"/>
            <a:ext cx="2651760" cy="178308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0" y="3822192"/>
            <a:ext cx="777240" cy="777240"/>
          </a:xfrm>
          <a:prstGeom prst="ellipse">
            <a:avLst/>
          </a:prstGeom>
          <a:solidFill>
            <a:srgbClr val="1A3A80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3877056"/>
            <a:ext cx="777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663440" y="4681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Ashikaga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4974336"/>
            <a:ext cx="1920240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974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UX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63440" y="5202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visual, landing page cnhora.com.br e design do app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91D4A"/>
          </a:solidFill>
          <a:ln w="12700">
            <a:solidFill>
              <a:srgbClr val="091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8691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cnhora.com.br · contato@cnhora.com.br · Universidade Positivo · Curitiba/PR · 2026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depois da apresentação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claro do conceito validado até produto no mercado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8321040" cy="228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19072"/>
            <a:ext cx="2633472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19072"/>
            <a:ext cx="263347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8288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ampliada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alunos + 10 instrutores entrevistados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" y="2542032"/>
            <a:ext cx="804672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5420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719072"/>
            <a:ext cx="2633472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719072"/>
            <a:ext cx="263347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18288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8620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instrutor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instrutores verificados no piloto de Curitiba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28416" y="2542032"/>
            <a:ext cx="804672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5420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Jul/26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0" y="1719072"/>
            <a:ext cx="2633472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719072"/>
            <a:ext cx="263347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8288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208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dados mockados por API REST real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63056" y="2542032"/>
            <a:ext cx="804672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5420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Ago/26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319272"/>
            <a:ext cx="2633472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319272"/>
            <a:ext cx="263347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34290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5156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real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gateway de split (Pagar.me / Stripe)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3776" y="4142232"/>
            <a:ext cx="804672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41422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3319272"/>
            <a:ext cx="2633472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0" y="3319272"/>
            <a:ext cx="263347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34290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88620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Curitiba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862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para 50 alunos, medir NPS e conversão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28416" y="4142232"/>
            <a:ext cx="804672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28416" y="41422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35040" y="3319272"/>
            <a:ext cx="2633472" cy="1417320"/>
          </a:xfrm>
          <a:prstGeom prst="rect">
            <a:avLst/>
          </a:prstGeom>
          <a:solidFill>
            <a:srgbClr val="0D2260"/>
          </a:solidFill>
          <a:ln w="635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35040" y="3319272"/>
            <a:ext cx="2633472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342900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72084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Paraná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2084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Londrina, Maringá, Ponta Grossa + Cat 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63056" y="4142232"/>
            <a:ext cx="804672" cy="201168"/>
          </a:xfrm>
          <a:prstGeom prst="rect">
            <a:avLst/>
          </a:prstGeom>
          <a:solidFill>
            <a:srgbClr val="1A3A80"/>
          </a:solidFill>
          <a:ln w="12700">
            <a:solidFill>
              <a:srgbClr val="1A3A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41422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Q1/27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86000" y="4709160"/>
            <a:ext cx="45720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0" y="47091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cnhora.com.br — conheça o conceito e entre na lista de espera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CNHora — Pitch Deck</dc:title>
  <dc:subject>PptxGenJS Presentation</dc:subject>
  <dc:creator>PptxGenJS</dc:creator>
  <cp:lastModifiedBy>PptxGenJS</cp:lastModifiedBy>
  <cp:revision>1</cp:revision>
  <dcterms:created xsi:type="dcterms:W3CDTF">2026-06-19T22:25:53Z</dcterms:created>
  <dcterms:modified xsi:type="dcterms:W3CDTF">2026-06-19T22:25:53Z</dcterms:modified>
</cp:coreProperties>
</file>